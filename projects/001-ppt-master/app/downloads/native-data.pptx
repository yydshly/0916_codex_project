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301.xml" ContentType="application/vnd.openxmlformats-officedocument.drawingml.char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  <Relationship Id="rId12" Type="http://schemas.openxmlformats.org/officeDocument/2006/relationships/notesMaster" Target="notesMasters/notesMaster1.xml"/>
</Relationships>
</file>

<file path=ppt/charts/_rels/chart3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301.xlsx"/>
</Relationships>
</file>

<file path=ppt/charts/chart3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示例值</c:v>
                </c:pt>
              </c:strCache>
            </c:strRef>
          </c:tx>
          <c:spPr>
            <a:solidFill>
              <a:srgbClr val="007F73"/>
            </a:solidFill>
            <a:ln>
              <a:solidFill>
                <a:srgbClr val="007F73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48</c:v>
                </c:pt>
                <c:pt idx="2">
                  <c:v>61</c:v>
                </c:pt>
                <c:pt idx="3">
                  <c:v>80</c:v>
                </c:pt>
              </c:numCache>
            </c:numRef>
          </c:val>
        </c:ser>
        <c:dLbls>
          <c:txPr>
            <a:bodyPr/>
            <a:lstStyle/>
            <a:p>
              <a:pPr>
                <a:defRPr lang="zh-CN" sz="1650">
                  <a:solidFill>
                    <a:srgbClr val="526C73"/>
                  </a:solidFill>
                  <a:latin typeface="Microsoft YaHei"/>
                  <a:ea typeface="Microsoft YaHei"/>
                  <a:cs typeface="Microsoft YaHei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CFDAD7"/>
            </a:solidFill>
            <a:round/>
          </a:ln>
        </c:spPr>
        <c:txPr>
          <a:bodyPr/>
          <a:lstStyle/>
          <a:p>
            <a:pPr>
              <a:defRPr lang="zh-CN" sz="1650">
                <a:solidFill>
                  <a:srgbClr val="526C73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00"/>
          <c:min val="0"/>
        </c:scaling>
        <c:delete val="0"/>
        <c:axPos val="l"/>
        <c:majorGridlines>
          <c:spPr>
            <a:ln w="6350" cap="flat" cmpd="sng" algn="ctr">
              <a:solidFill>
                <a:srgbClr val="CFDAD7"/>
              </a:solidFill>
              <a:round/>
            </a:ln>
          </c:spPr>
        </c:majorGridlines>
        <c:majorTickMark val="none"/>
        <c:minorTickMark val="none"/>
        <c:tickLblPos val="nextTo"/>
        <c:spPr>
          <a:ln w="9525" cap="flat" cmpd="sng" algn="ctr">
            <a:solidFill>
              <a:srgbClr val="CFDAD7"/>
            </a:solidFill>
            <a:round/>
          </a:ln>
        </c:spPr>
        <c:txPr>
          <a:bodyPr/>
          <a:lstStyle/>
          <a:p>
            <a:pPr>
              <a:defRPr lang="zh-CN" sz="1650">
                <a:solidFill>
                  <a:srgbClr val="526C73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068027336"/>
        <c:crosses val="autoZero"/>
        <c:crossBetween val="between"/>
        <c:majorUnit val="2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zh-CN" sz="1650">
          <a:solidFill>
            <a:srgbClr val="526C73"/>
          </a:solidFill>
          <a:latin typeface="Microsoft YaHei"/>
          <a:ea typeface="Microsoft YaHei"/>
          <a:cs typeface="Microsoft YaHei"/>
        </a:defRPr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US" dirty="0"/>
              <a:t>01-cover</a:t>
            </a:r>
          </a:p>
          <a:p>
            <a:pPr/>
            <a:endParaRPr lang="zh-CN" dirty="0"/>
          </a:p>
          <a:p>
            <a:pPr/>
            <a:r>
              <a:rPr lang="zh-CN" dirty="0"/>
              <a:t>本页是 PPT Master 本地能力实验，所有数值为虚构示例。</a:t>
            </a:r>
          </a:p>
          <a:p>
            <a:pPr/>
            <a:endParaRPr lang="zh-CN" dirty="0"/>
          </a:p>
          <a:p>
            <a:pPr/>
            <a:r>
              <a:rPr lang="zh-CN" dirty="0"/>
              <a:t>来源：https://github.com/hugohe3/ppt-master/tree/52a2801c27cb468d7ea95e25c7b0702eaa360914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US" dirty="0"/>
              <a:t>02-workflow</a:t>
            </a:r>
          </a:p>
          <a:p>
            <a:pPr/>
            <a:endParaRPr lang="zh-CN" dirty="0"/>
          </a:p>
          <a:p>
            <a:pPr/>
            <a:r>
              <a:rPr lang="zh-CN" dirty="0"/>
              <a:t>本页是 PPT Master 本地能力实验，所有数值为虚构示例。</a:t>
            </a:r>
          </a:p>
          <a:p>
            <a:pPr/>
            <a:endParaRPr lang="zh-CN" dirty="0"/>
          </a:p>
          <a:p>
            <a:pPr/>
            <a:r>
              <a:rPr lang="zh-CN" dirty="0"/>
              <a:t>来源：https://github.com/hugohe3/ppt-master/tree/52a2801c27cb468d7ea95e25c7b0702eaa360914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US" dirty="0"/>
              <a:t>03-chart</a:t>
            </a:r>
          </a:p>
          <a:p>
            <a:pPr/>
            <a:endParaRPr lang="zh-CN" dirty="0"/>
          </a:p>
          <a:p>
            <a:pPr/>
            <a:r>
              <a:rPr lang="zh-CN" dirty="0"/>
              <a:t>本页是 PPT Master 本地能力实验，所有数值为虚构示例。</a:t>
            </a:r>
          </a:p>
          <a:p>
            <a:pPr/>
            <a:endParaRPr lang="zh-CN" dirty="0"/>
          </a:p>
          <a:p>
            <a:pPr/>
            <a:r>
              <a:rPr lang="zh-CN" dirty="0"/>
              <a:t>来源：https://github.com/hugohe3/ppt-master/tree/52a2801c27cb468d7ea95e25c7b0702eaa360914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US" dirty="0"/>
              <a:t>04-table</a:t>
            </a:r>
          </a:p>
          <a:p>
            <a:pPr/>
            <a:endParaRPr lang="zh-CN" dirty="0"/>
          </a:p>
          <a:p>
            <a:pPr/>
            <a:r>
              <a:rPr lang="zh-CN" dirty="0"/>
              <a:t>本页是 PPT Master 本地能力实验，所有数值为虚构示例。</a:t>
            </a:r>
          </a:p>
          <a:p>
            <a:pPr/>
            <a:endParaRPr lang="zh-CN" dirty="0"/>
          </a:p>
          <a:p>
            <a:pPr/>
            <a:r>
              <a:rPr lang="zh-CN" dirty="0"/>
              <a:t>来源：https://github.com/hugohe3/ppt-master/tree/52a2801c27cb468d7ea95e25c7b0702eaa360914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US" dirty="0"/>
              <a:t>05-formula</a:t>
            </a:r>
          </a:p>
          <a:p>
            <a:pPr/>
            <a:endParaRPr lang="zh-CN" dirty="0"/>
          </a:p>
          <a:p>
            <a:pPr/>
            <a:r>
              <a:rPr lang="zh-CN" dirty="0"/>
              <a:t>本页是 PPT Master 本地能力实验，所有数值为虚构示例。</a:t>
            </a:r>
          </a:p>
          <a:p>
            <a:pPr/>
            <a:endParaRPr lang="zh-CN" dirty="0"/>
          </a:p>
          <a:p>
            <a:pPr/>
            <a:r>
              <a:rPr lang="zh-CN" dirty="0"/>
              <a:t>来源：https://github.com/hugohe3/ppt-master/tree/52a2801c27cb468d7ea95e25c7b0702eaa360914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ampl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ampl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chart" Target="../charts/chart301.xml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34568" y="688658"/>
            <a:ext cx="345506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93D9C9"/>
                </a:solidFill>
                <a:latin typeface="+mn-lt"/>
                <a:ea typeface="+mn-ea"/>
                <a:cs typeface="+mn-cs"/>
              </a:rPr>
              <a:t>PPT MASTER / CAPABILITY STUDY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6750" y="1795462"/>
            <a:ext cx="6473704" cy="1019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2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可编辑 PowerPoint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5612" y="2868930"/>
            <a:ext cx="5367528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从页面设计，到原生对象</a:t>
            </a:r>
          </a:p>
        </p:txBody>
      </p:sp>
      <p:sp>
        <p:nvSpPr>
          <p:cNvPr id="5" name="Line 5"/>
          <p:cNvSpPr/>
          <p:nvPr/>
        </p:nvSpPr>
        <p:spPr>
          <a:xfrm>
            <a:off x="742950" y="3924300"/>
            <a:ext cx="10648950" cy="9525"/>
          </a:xfrm>
          <a:custGeom>
            <a:avLst/>
            <a:gdLst/>
            <a:ahLst/>
            <a:cxnLst/>
            <a:rect l="l" t="t" r="r" b="b"/>
            <a:pathLst>
              <a:path w="10648950" h="9525">
                <a:moveTo>
                  <a:pt x="0" y="0"/>
                </a:moveTo>
                <a:lnTo>
                  <a:pt x="10648950" y="0"/>
                </a:lnTo>
              </a:path>
            </a:pathLst>
          </a:custGeom>
          <a:noFill/>
          <a:ln w="19050">
            <a:solidFill>
              <a:srgbClr val="42616A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751332" y="4383405"/>
            <a:ext cx="516651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B8D9D5"/>
                </a:solidFill>
                <a:latin typeface="+mn-lt"/>
                <a:ea typeface="+mn-ea"/>
                <a:cs typeface="+mn-cs"/>
              </a:rPr>
              <a:t>文字排版 流程图 数据图表 表格 数学公式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2475" y="5455444"/>
            <a:ext cx="381533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5 页真实导出样例 · 两种编辑方式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4380" y="6048375"/>
            <a:ext cx="42966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B8D9D5"/>
                </a:solidFill>
                <a:latin typeface="+mn-lt"/>
                <a:ea typeface="+mn-ea"/>
                <a:cs typeface="+mn-cs"/>
              </a:rPr>
              <a:t>原始数据为演示构造；导出由 PPT Master 完成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0748" y="460058"/>
            <a:ext cx="342442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42C35"/>
                </a:solidFill>
                <a:latin typeface="+mn-lt"/>
                <a:ea typeface="+mn-ea"/>
                <a:cs typeface="+mn-cs"/>
              </a:rPr>
              <a:t>流程图与文字排版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77037" y="1080611"/>
            <a:ext cx="4185361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观察重点：独立形状、连线和可编辑文本</a:t>
            </a:r>
          </a:p>
        </p:txBody>
      </p:sp>
      <p:sp>
        <p:nvSpPr>
          <p:cNvPr id="4" name="Rectangle 4"/>
          <p:cNvSpPr/>
          <p:nvPr/>
        </p:nvSpPr>
        <p:spPr>
          <a:xfrm>
            <a:off x="685800" y="2286000"/>
            <a:ext cx="3105150" cy="1828800"/>
          </a:xfrm>
          <a:prstGeom prst="roundRect">
            <a:avLst>
              <a:gd name="adj" fmla="val 6250"/>
            </a:avLst>
          </a:prstGeom>
          <a:solidFill>
            <a:srgbClr val="E3EFEB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5637" y="2537936"/>
            <a:ext cx="28496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007F73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1446" y="2991802"/>
            <a:ext cx="1055751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42C35"/>
                </a:solidFill>
                <a:latin typeface="+mn-lt"/>
                <a:ea typeface="+mn-ea"/>
                <a:cs typeface="+mn-cs"/>
              </a:rPr>
              <a:t>源材料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5637" y="3547586"/>
            <a:ext cx="1939361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文档 / 数据 / 主题</a:t>
            </a:r>
          </a:p>
        </p:txBody>
      </p:sp>
      <p:sp>
        <p:nvSpPr>
          <p:cNvPr id="8" name="Line 8"/>
          <p:cNvSpPr/>
          <p:nvPr/>
        </p:nvSpPr>
        <p:spPr>
          <a:xfrm>
            <a:off x="3905250" y="3200400"/>
            <a:ext cx="447675" cy="9525"/>
          </a:xfrm>
          <a:custGeom>
            <a:avLst/>
            <a:gdLst/>
            <a:ahLst/>
            <a:cxnLst/>
            <a:rect l="l" t="t" r="r" b="b"/>
            <a:pathLst>
              <a:path w="447675" h="952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/>
          <a:ln w="28575">
            <a:solidFill>
              <a:srgbClr val="007F73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4276725" y="31242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0" y="0"/>
                </a:moveTo>
                <a:lnTo>
                  <a:pt x="76200" y="76200"/>
                </a:lnTo>
                <a:lnTo>
                  <a:pt x="0" y="152400"/>
                </a:lnTo>
              </a:path>
            </a:pathLst>
          </a:custGeom>
          <a:noFill/>
          <a:ln w="28575">
            <a:solidFill>
              <a:srgbClr val="007F73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533900" y="2286000"/>
            <a:ext cx="3105150" cy="1828800"/>
          </a:xfrm>
          <a:prstGeom prst="roundRect">
            <a:avLst>
              <a:gd name="adj" fmla="val 6250"/>
            </a:avLst>
          </a:prstGeom>
          <a:solidFill>
            <a:srgbClr val="E3EFE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753737" y="2537936"/>
            <a:ext cx="28496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007F73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49546" y="2991802"/>
            <a:ext cx="1399032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42C35"/>
                </a:solidFill>
                <a:latin typeface="+mn-lt"/>
                <a:ea typeface="+mn-ea"/>
                <a:cs typeface="+mn-cs"/>
              </a:rPr>
              <a:t>页面设计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53737" y="3547586"/>
            <a:ext cx="1895018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文字 / 布局 / SVG</a:t>
            </a:r>
          </a:p>
        </p:txBody>
      </p:sp>
      <p:sp>
        <p:nvSpPr>
          <p:cNvPr id="14" name="Line 14"/>
          <p:cNvSpPr/>
          <p:nvPr/>
        </p:nvSpPr>
        <p:spPr>
          <a:xfrm>
            <a:off x="7753350" y="3200400"/>
            <a:ext cx="447675" cy="9525"/>
          </a:xfrm>
          <a:custGeom>
            <a:avLst/>
            <a:gdLst/>
            <a:ahLst/>
            <a:cxnLst/>
            <a:rect l="l" t="t" r="r" b="b"/>
            <a:pathLst>
              <a:path w="447675" h="952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/>
          <a:ln w="28575">
            <a:solidFill>
              <a:srgbClr val="007F73"/>
            </a:solidFill>
          </a:ln>
        </p:spPr>
      </p:sp>
      <p:sp>
        <p:nvSpPr>
          <p:cNvPr id="15" name="Freeform 15"/>
          <p:cNvSpPr/>
          <p:nvPr/>
        </p:nvSpPr>
        <p:spPr>
          <a:xfrm>
            <a:off x="8124825" y="31242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0" y="0"/>
                </a:moveTo>
                <a:lnTo>
                  <a:pt x="76200" y="76200"/>
                </a:lnTo>
                <a:lnTo>
                  <a:pt x="0" y="152400"/>
                </a:lnTo>
              </a:path>
            </a:pathLst>
          </a:custGeom>
          <a:noFill/>
          <a:ln w="28575">
            <a:solidFill>
              <a:srgbClr val="007F73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8382000" y="2286000"/>
            <a:ext cx="3105150" cy="1828800"/>
          </a:xfrm>
          <a:prstGeom prst="roundRect">
            <a:avLst>
              <a:gd name="adj" fmla="val 6250"/>
            </a:avLst>
          </a:prstGeom>
          <a:solidFill>
            <a:srgbClr val="E3EFE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601837" y="2537936"/>
            <a:ext cx="28496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007F73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97646" y="2991802"/>
            <a:ext cx="1399032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42C35"/>
                </a:solidFill>
                <a:latin typeface="+mn-lt"/>
                <a:ea typeface="+mn-ea"/>
                <a:cs typeface="+mn-cs"/>
              </a:rPr>
              <a:t>原生对象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601837" y="3547586"/>
            <a:ext cx="1939361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形状 / 图表 / 表格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11708" y="4722495"/>
            <a:ext cx="454761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42C35"/>
                </a:solidFill>
                <a:latin typeface="+mn-lt"/>
                <a:ea typeface="+mn-ea"/>
                <a:cs typeface="+mn-cs"/>
              </a:rPr>
              <a:t>每个节点与连接线都是独立对象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4375" y="5264944"/>
            <a:ext cx="7388521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可在 PowerPoint 中移动、改色、修改文字；页面不是整张截图。</a:t>
            </a:r>
          </a:p>
        </p:txBody>
      </p:sp>
      <p:sp>
        <p:nvSpPr>
          <p:cNvPr id="22" name="Line 22"/>
          <p:cNvSpPr/>
          <p:nvPr/>
        </p:nvSpPr>
        <p:spPr>
          <a:xfrm>
            <a:off x="685800" y="61912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9050">
            <a:solidFill>
              <a:srgbClr val="CFDAD7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79323" y="6396514"/>
            <a:ext cx="313589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PPT MASTER / 本地能力实验 · 示例数据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922472" y="6396514"/>
            <a:ext cx="5902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8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02 / 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0748" y="460058"/>
            <a:ext cx="427253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42C35"/>
                </a:solidFill>
                <a:latin typeface="+mn-lt"/>
                <a:ea typeface="+mn-ea"/>
                <a:cs typeface="+mn-cs"/>
              </a:rPr>
              <a:t>图表：形状与数据对象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77037" y="1080611"/>
            <a:ext cx="488000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同一份数据，分别导出为可编辑形状和原生图表</a:t>
            </a:r>
          </a:p>
        </p:txBody>
      </p:sp>
      <p:graphicFrame>
        <p:nvGraphicFramePr>
          <p:cNvPr id="4" name="季度演示数据"/>
          <p:cNvGraphicFramePr>
            <a:graphicFrameLocks noGrp="1"/>
          </p:cNvGraphicFramePr>
          <p:nvPr/>
        </p:nvGraphicFramePr>
        <p:xfrm>
          <a:off x="685800" y="1905000"/>
          <a:ext cx="7677150" cy="40195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8859774" y="2370772"/>
            <a:ext cx="1668716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007F73"/>
                </a:solidFill>
                <a:latin typeface="+mn-lt"/>
                <a:ea typeface="+mn-ea"/>
                <a:cs typeface="+mn-cs"/>
              </a:rPr>
              <a:t>32 → 80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868156" y="3082290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虚构季度数据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867775" y="3940969"/>
            <a:ext cx="77830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rgbClr val="142C35"/>
                </a:solidFill>
                <a:latin typeface="+mn-lt"/>
                <a:ea typeface="+mn-ea"/>
                <a:cs typeface="+mn-cs"/>
              </a:rPr>
              <a:t>形状版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68537" y="4347686"/>
            <a:ext cx="140680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逐个修改柱形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67775" y="4902994"/>
            <a:ext cx="128447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rgbClr val="142C35"/>
                </a:solidFill>
                <a:latin typeface="+mn-lt"/>
                <a:ea typeface="+mn-ea"/>
                <a:cs typeface="+mn-cs"/>
              </a:rPr>
              <a:t>原生数据版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68537" y="5309711"/>
            <a:ext cx="1638351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编辑底层工作簿</a:t>
            </a:r>
          </a:p>
        </p:txBody>
      </p:sp>
      <p:sp>
        <p:nvSpPr>
          <p:cNvPr id="11" name="Line 11"/>
          <p:cNvSpPr/>
          <p:nvPr/>
        </p:nvSpPr>
        <p:spPr>
          <a:xfrm>
            <a:off x="685800" y="61912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9050">
            <a:solidFill>
              <a:srgbClr val="CFDAD7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79323" y="6396514"/>
            <a:ext cx="313589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PPT MASTER / 本地能力实验 · 示例数据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22472" y="6396514"/>
            <a:ext cx="5902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8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03 / 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0748" y="460058"/>
            <a:ext cx="469658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42C35"/>
                </a:solidFill>
                <a:latin typeface="+mn-lt"/>
                <a:ea typeface="+mn-ea"/>
                <a:cs typeface="+mn-cs"/>
              </a:rPr>
              <a:t>表格：保留行列与单元格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77037" y="1080611"/>
            <a:ext cx="557464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原生数据版支持直接选中单元格、修改内容和调整列宽</a:t>
            </a:r>
          </a:p>
        </p:txBody>
      </p:sp>
      <p:graphicFrame>
        <p:nvGraphicFramePr>
          <p:cNvPr id="4" name="能力对照表"/>
          <p:cNvGraphicFramePr>
            <a:graphicFrameLocks noGrp="1"/>
          </p:cNvGraphicFramePr>
          <p:nvPr/>
        </p:nvGraphicFramePr>
        <p:xfrm>
          <a:off x="685800" y="2076450"/>
          <a:ext cx="10820400" cy="333375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143250"/>
                <a:gridCol w="3714750"/>
                <a:gridCol w="3962400"/>
              </a:tblGrid>
              <a:tr h="666750">
                <a:tc>
                  <a:txBody>
                    <a:bodyPr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页面元素</a:t>
                      </a:r>
                    </a:p>
                  </a:txBody>
                  <a:tcPr anchor="ctr" marL="209550" marR="114300" marT="76200" marB="76200">
                    <a:solidFill>
                      <a:srgbClr val="142C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形状版</a:t>
                      </a:r>
                    </a:p>
                  </a:txBody>
                  <a:tcPr anchor="ctr" marL="209550" marR="114300" marT="76200" marB="76200">
                    <a:solidFill>
                      <a:srgbClr val="142C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原生数据版</a:t>
                      </a:r>
                    </a:p>
                  </a:txBody>
                  <a:tcPr anchor="ctr" marL="209550" marR="114300" marT="76200" marB="76200">
                    <a:solidFill>
                      <a:srgbClr val="142C3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rgbClr val="142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文字 / 流程图</a:t>
                      </a:r>
                    </a:p>
                  </a:txBody>
                  <a:tcPr anchor="ctr" marL="209550" marR="114300" marT="76200" marB="76200">
                    <a:solidFill>
                      <a:srgbClr val="EAF1E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rgbClr val="142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文本与形状</a:t>
                      </a:r>
                    </a:p>
                  </a:txBody>
                  <a:tcPr anchor="ctr" marL="209550" marR="114300" marT="76200" marB="76200">
                    <a:solidFill>
                      <a:srgbClr val="EAF1E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rgbClr val="142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文本与形状</a:t>
                      </a:r>
                    </a:p>
                  </a:txBody>
                  <a:tcPr anchor="ctr" marL="209550" marR="114300" marT="76200" marB="76200">
                    <a:solidFill>
                      <a:srgbClr val="EAF1E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rgbClr val="142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季度柱状图</a:t>
                      </a:r>
                    </a:p>
                  </a:txBody>
                  <a:tcPr anchor="ctr" marL="20955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rgbClr val="142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独立柱形与标签</a:t>
                      </a:r>
                    </a:p>
                  </a:txBody>
                  <a:tcPr anchor="ctr" marL="20955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rgbClr val="142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图表 + 内嵌工作簿</a:t>
                      </a:r>
                    </a:p>
                  </a:txBody>
                  <a:tcPr anchor="ctr" marL="209550" marR="114300" marT="76200" marB="7620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rgbClr val="142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能力对照表</a:t>
                      </a:r>
                    </a:p>
                  </a:txBody>
                  <a:tcPr anchor="ctr" marL="209550" marR="114300" marT="76200" marB="76200">
                    <a:solidFill>
                      <a:srgbClr val="EAF1E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rgbClr val="142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单元格外观拆分为形状</a:t>
                      </a:r>
                    </a:p>
                  </a:txBody>
                  <a:tcPr anchor="ctr" marL="209550" marR="114300" marT="76200" marB="76200">
                    <a:solidFill>
                      <a:srgbClr val="EAF1E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rgbClr val="142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可编辑表格</a:t>
                      </a:r>
                    </a:p>
                  </a:txBody>
                  <a:tcPr anchor="ctr" marL="209550" marR="114300" marT="76200" marB="76200">
                    <a:solidFill>
                      <a:srgbClr val="EAF1E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rgbClr val="142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数学公式</a:t>
                      </a:r>
                    </a:p>
                  </a:txBody>
                  <a:tcPr anchor="ctr" marL="20955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rgbClr val="142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Office Math 公式</a:t>
                      </a:r>
                    </a:p>
                  </a:txBody>
                  <a:tcPr anchor="ctr" marL="20955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rgbClr val="142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Office Math 公式</a:t>
                      </a:r>
                    </a:p>
                  </a:txBody>
                  <a:tcPr anchor="ctr" marL="209550" marR="1143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Line 5"/>
          <p:cNvSpPr/>
          <p:nvPr/>
        </p:nvSpPr>
        <p:spPr>
          <a:xfrm>
            <a:off x="685800" y="61912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9050">
            <a:solidFill>
              <a:srgbClr val="CFDAD7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679323" y="6396514"/>
            <a:ext cx="313589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PPT MASTER / 本地能力实验 · 示例数据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22472" y="6396514"/>
            <a:ext cx="5902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8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04 / 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0748" y="460058"/>
            <a:ext cx="469658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42C35"/>
                </a:solidFill>
                <a:latin typeface="+mn-lt"/>
                <a:ea typeface="+mn-ea"/>
                <a:cs typeface="+mn-cs"/>
              </a:rPr>
              <a:t>公式：结构化数学表达式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77037" y="1080611"/>
            <a:ext cx="6042975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SVG 中显示文本预览；PPTX 中输出可编辑的 Office Math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uadratic-formula"/>
              <p:cNvSpPr txBox="1">
                <a:spLocks noGrp="1"/>
              </p:cNvSpPr>
              <p:nvPr/>
            </p:nvSpPr>
            <p:spPr>
              <a:xfrm>
                <a:off x="1619250" y="2143125"/>
                <a:ext cx="89535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3900" dirty="0">
                          <a:solidFill>
                            <a:srgbClr val="142C35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3900" dirty="0">
                          <a:solidFill>
                            <a:srgbClr val="142C35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3900" dirty="0">
                              <a:solidFill>
                                <a:srgbClr val="142C3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3900" dirty="0">
                              <a:solidFill>
                                <a:srgbClr val="142C3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3900" dirty="0">
                              <a:solidFill>
                                <a:srgbClr val="142C3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zh-CN" sz="3900" dirty="0">
                              <a:solidFill>
                                <a:srgbClr val="142C3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zh-CN" sz="3900" dirty="0">
                                  <a:solidFill>
                                    <a:srgbClr val="142C3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sSup>
                                <m:e>
                                  <m:r>
                                    <a:rPr lang="zh-CN" sz="3900" dirty="0">
                                      <a:solidFill>
                                        <a:srgbClr val="142C3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  <m:sup>
                                  <m:r>
                                    <a:rPr lang="zh-CN" sz="3900" dirty="0">
                                      <a:solidFill>
                                        <a:srgbClr val="142C3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3900" dirty="0">
                                  <a:solidFill>
                                    <a:srgbClr val="142C3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3900" dirty="0">
                                  <a:solidFill>
                                    <a:srgbClr val="142C3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4ac</m:t>
                              </m:r>
                            </m:e>
                          </m:rad>
                        </m:num>
                        <m:den>
                          <m:r>
                            <a:rPr lang="zh-CN" sz="3900" dirty="0">
                              <a:solidFill>
                                <a:srgbClr val="142C3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2a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sp>
        <p:nvSpPr>
          <p:cNvPr id="5" name="TextBox 5"/>
          <p:cNvSpPr txBox="1"/>
          <p:nvPr/>
        </p:nvSpPr>
        <p:spPr>
          <a:xfrm>
            <a:off x="938784" y="4394835"/>
            <a:ext cx="385759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007F73"/>
                </a:solidFill>
                <a:latin typeface="+mn-lt"/>
                <a:ea typeface="+mn-ea"/>
                <a:cs typeface="+mn-cs"/>
              </a:rPr>
              <a:t>LaTeX → Office Math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2213" y="5039201"/>
            <a:ext cx="5187290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分数、根号与上下标以原生公式结构保存。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2975" y="5512594"/>
            <a:ext cx="587000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在 PowerPoint 中选中公式，继续修改数学表达式。</a:t>
            </a:r>
          </a:p>
        </p:txBody>
      </p:sp>
      <p:sp>
        <p:nvSpPr>
          <p:cNvPr id="8" name="Line 8"/>
          <p:cNvSpPr/>
          <p:nvPr/>
        </p:nvSpPr>
        <p:spPr>
          <a:xfrm>
            <a:off x="685800" y="61912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9050">
            <a:solidFill>
              <a:srgbClr val="CFDAD7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79323" y="6396514"/>
            <a:ext cx="313589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PPT MASTER / 本地能力实验 · 示例数据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22472" y="6396514"/>
            <a:ext cx="5902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80" dirty="0">
                <a:solidFill>
                  <a:srgbClr val="526C73"/>
                </a:solidFill>
                <a:latin typeface="+mn-lt"/>
                <a:ea typeface="+mn-ea"/>
                <a:cs typeface="+mn-cs"/>
              </a:rPr>
              <a:t>05 / 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ample">
  <a:themeElements>
    <a:clrScheme name="sampl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ampl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mp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ample">
  <a:themeElements>
    <a:clrScheme name="sampl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ampl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mp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2026-09-16T11:01:03Z</dcterms:created>
  <dcterms:modified xsi:type="dcterms:W3CDTF">2026-09-16T11:01:03Z</dcterms:modified>
  <cp:category/>
  <cp:contentStatus/>
</cp:coreProperties>
</file>